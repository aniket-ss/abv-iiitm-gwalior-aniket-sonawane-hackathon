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3D5CB"/>
                </a:solidFill>
                <a:latin typeface="Aptos"/>
              </a:defRPr>
            </a:pPr>
            <a:r>
              <a:t>S&amp;P GLOBAL &amp; CRISIL CAMPUS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Code to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DEE7F1"/>
                </a:solidFill>
                <a:latin typeface="Aptos"/>
              </a:defRPr>
            </a:pPr>
            <a:r>
              <a:t>From unstructured news and social signals to portfolio risk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Aniket Sonawane  |  ABV-IIITM Gwalior</a:t>
            </a:r>
            <a:br/>
            <a:r>
              <a:t>Risk Engine • Index Rebalancer • Portfolio Stress Tester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2823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4C3D3"/>
                </a:solidFill>
                <a:latin typeface="Aptos"/>
              </a:defRPr>
            </a:pPr>
            <a:r>
              <a:t>DRAFT DECK — refresh output metrics/screenshots after the final clean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01 /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Problem &amp;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192024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News and social posts are unstructured, fast-moving, and difficult to translate into consistent risk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37360"/>
            <a:ext cx="73152" cy="192024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The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Normalize documents and emit structured ticker/scope signals with sentiment, event type, impact, confidence,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73152" cy="1920240"/>
          </a:xfrm>
          <a:prstGeom prst="rect">
            <a:avLst/>
          </a:prstGeom>
          <a:solidFill>
            <a:srgbClr val="C6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The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Use signals to tilt index weights within risk controls and stress a synthetic wholesale portfolio after high-impact events.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Common signal contract lets downstream modules reuse the same risk intelligence.</a:t>
            </a:r>
          </a:p>
          <a:p>
            <a:pPr>
              <a:spcAft>
                <a:spcPts val="17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SQLite stores the signal history; FastAPI provides endpoints; Streamlit provides the interactive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02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5448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News + social</a:t>
            </a:r>
          </a:p>
        </p:txBody>
      </p:sp>
      <p:sp>
        <p:nvSpPr>
          <p:cNvPr id="12" name="Chevron 11"/>
          <p:cNvSpPr/>
          <p:nvPr/>
        </p:nvSpPr>
        <p:spPr>
          <a:xfrm>
            <a:off x="2203704" y="2679192"/>
            <a:ext cx="219456" cy="365760"/>
          </a:xfrm>
          <a:prstGeom prst="chevron">
            <a:avLst/>
          </a:prstGeom>
          <a:solidFill>
            <a:srgbClr val="5F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0591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1" y="2148840"/>
            <a:ext cx="73152" cy="155448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Normalize + deduplicate</a:t>
            </a:r>
          </a:p>
        </p:txBody>
      </p:sp>
      <p:sp>
        <p:nvSpPr>
          <p:cNvPr id="17" name="Chevron 16"/>
          <p:cNvSpPr/>
          <p:nvPr/>
        </p:nvSpPr>
        <p:spPr>
          <a:xfrm>
            <a:off x="4151376" y="2679192"/>
            <a:ext cx="219456" cy="365760"/>
          </a:xfrm>
          <a:prstGeom prst="chevron">
            <a:avLst/>
          </a:prstGeom>
          <a:solidFill>
            <a:srgbClr val="5F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2148840"/>
            <a:ext cx="73152" cy="155448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Sentiment / event / impact</a:t>
            </a:r>
          </a:p>
        </p:txBody>
      </p:sp>
      <p:sp>
        <p:nvSpPr>
          <p:cNvPr id="22" name="Chevron 21"/>
          <p:cNvSpPr/>
          <p:nvPr/>
        </p:nvSpPr>
        <p:spPr>
          <a:xfrm>
            <a:off x="6099048" y="2679192"/>
            <a:ext cx="219456" cy="365760"/>
          </a:xfrm>
          <a:prstGeom prst="chevron">
            <a:avLst/>
          </a:prstGeom>
          <a:solidFill>
            <a:srgbClr val="5F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45936" y="2148840"/>
            <a:ext cx="73152" cy="155448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3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Signal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SQLite + FastAPI</a:t>
            </a:r>
          </a:p>
        </p:txBody>
      </p:sp>
      <p:sp>
        <p:nvSpPr>
          <p:cNvPr id="27" name="Chevron 26"/>
          <p:cNvSpPr/>
          <p:nvPr/>
        </p:nvSpPr>
        <p:spPr>
          <a:xfrm>
            <a:off x="8046719" y="2679192"/>
            <a:ext cx="219456" cy="365760"/>
          </a:xfrm>
          <a:prstGeom prst="chevron">
            <a:avLst/>
          </a:prstGeom>
          <a:solidFill>
            <a:srgbClr val="5F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93608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93608" y="2148840"/>
            <a:ext cx="73152" cy="155448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4776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Rebalance + stress</a:t>
            </a:r>
          </a:p>
        </p:txBody>
      </p:sp>
      <p:sp>
        <p:nvSpPr>
          <p:cNvPr id="32" name="Chevron 31"/>
          <p:cNvSpPr/>
          <p:nvPr/>
        </p:nvSpPr>
        <p:spPr>
          <a:xfrm>
            <a:off x="9994392" y="2679192"/>
            <a:ext cx="219456" cy="365760"/>
          </a:xfrm>
          <a:prstGeom prst="chevron">
            <a:avLst/>
          </a:prstGeom>
          <a:solidFill>
            <a:srgbClr val="5F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0" y="2148840"/>
            <a:ext cx="169164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2148840"/>
            <a:ext cx="73152" cy="155448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42448" y="23134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2807208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3 Streamlit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A3441"/>
                </a:solidFill>
                <a:latin typeface="Aptos"/>
              </a:defRPr>
            </a:pPr>
            <a:r>
              <a:t>Key files: src/common/schemas.py • src/signals/store.py • src/api/app.py • src/modules/rebalancer/engine.py • src/modules/stress_test/engine.py • src/dashboard/app.py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C7B"/>
                </a:solidFill>
                <a:latin typeface="Aptos"/>
              </a:defRPr>
            </a:pPr>
            <a:r>
              <a:t>See docs/architecture.md for the editable Mermaid architecture diagram.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03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Risk Engine &amp; signal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2064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874519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754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Structured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754879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ticker + scope</a:t>
            </a:r>
            <a:br/>
            <a:r>
              <a:t>sentiment in [-1, 1]</a:t>
            </a:r>
            <a:br/>
            <a:r>
              <a:t>event type + impact in [1, 10]</a:t>
            </a:r>
            <a:br/>
            <a:r>
              <a:t>confidence + source + timestamp + rationale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512064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73152" cy="1874519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4754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Model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95728"/>
            <a:ext cx="4754879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Exploratory 3-trading-day absolute abnormal-return magnitude model. The latest purged holdout showed Spearman ≈ 0.428 versus ≈ −0.302 for the original impact 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The learned score is a ranking/calibration signal, not a probability and not a directional return forecast.</a:t>
            </a:r>
          </a:p>
          <a:p>
            <a:pPr>
              <a:spcAft>
                <a:spcPts val="17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Data coverage starts at 2021-09-30 for the current daily-price CSV; early signals are excluded from price-based calibration.</a:t>
            </a:r>
          </a:p>
          <a:p>
            <a:pPr>
              <a:spcAft>
                <a:spcPts val="17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•  Keep the learned score labelled experimental pending further time-based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04 / TACTICAL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Module A — Index Rebalancer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205740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7-day signal lookback</a:t>
            </a:r>
            <a:br/>
            <a:r>
              <a:t>Confidence threshold</a:t>
            </a:r>
            <a:br/>
            <a:r>
              <a:t>Maximum single-name weight</a:t>
            </a:r>
            <a:br/>
            <a:r>
              <a:t>Maximum one-way turnover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73152" cy="205740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Sentiment-tilted index vs static equal-weight benchmark. Weights use lagged signals to reduce same-day lookahead.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73152" cy="2057400"/>
          </a:xfrm>
          <a:prstGeom prst="rect">
            <a:avLst/>
          </a:prstGeom>
          <a:solidFill>
            <a:srgbClr val="C6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data/processed/phase6/weights_over_time.csv</a:t>
            </a:r>
            <a:br/>
            <a:r>
              <a:t>performance_comparison.csv</a:t>
            </a:r>
            <a:br/>
            <a:r>
              <a:t>performance_summary.json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67E20"/>
                </a:solidFill>
                <a:latin typeface="Aptos"/>
              </a:defRPr>
            </a:pPr>
            <a:r>
              <a:t>INSERT FINAL BACKTEST RESULTS AFTER RUNNING: python -m scripts.run_rebalancer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A3441"/>
                </a:solidFill>
                <a:latin typeface="Aptos"/>
              </a:defRPr>
            </a:pPr>
            <a:r>
              <a:t>Report actual cumulative return, volatility, drawdown, turnover, and the chosen historical period. Transaction costs are currently omitted.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05 / STRATEGIC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Module B — Stress Tester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205740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Synthetic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Corporate and CRE loans</a:t>
            </a:r>
            <a:br/>
            <a:r>
              <a:t>Sovereign and corporate bonds</a:t>
            </a:r>
            <a:br/>
            <a:r>
              <a:t>Equity, rates, and FX derivatives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73152" cy="205740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High-impact signal (default ≥ 7/10) selects a scenario by event type from config/stress_scenarios.yaml.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38328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73152" cy="2057400"/>
          </a:xfrm>
          <a:prstGeom prst="rect">
            <a:avLst/>
          </a:prstGeom>
          <a:solidFill>
            <a:srgbClr val="C6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41448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Portfolio before value</a:t>
            </a:r>
            <a:br/>
            <a:r>
              <a:t>Scenario P&amp;L</a:t>
            </a:r>
            <a:br/>
            <a:r>
              <a:t>Portfolio after value</a:t>
            </a:r>
            <a:br/>
            <a:r>
              <a:t>Asset-level P&amp;L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67E20"/>
                </a:solidFill>
                <a:latin typeface="Aptos"/>
              </a:defRPr>
            </a:pPr>
            <a:r>
              <a:t>INSERT A REAL RUN SCREENSHOT / VALUE AFTER RUNNING: python -m scripts.run_stress_test --threshold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A3441"/>
                </a:solidFill>
                <a:latin typeface="Aptos"/>
              </a:defRPr>
            </a:pPr>
            <a:r>
              <a:t>Shocks and portfolio are synthetic, deterministic illustrations—not a production banking risk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F88"/>
                </a:solidFill>
                <a:latin typeface="Aptos"/>
              </a:defRPr>
            </a:pPr>
            <a:r>
              <a:t>06 / SUBMISSION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43E"/>
                </a:solidFill>
                <a:latin typeface="Aptos"/>
              </a:defRPr>
            </a:pPr>
            <a:r>
              <a:t>Results, impact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005840" cy="50292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F6C7B"/>
                </a:solidFill>
                <a:latin typeface="Aptos"/>
              </a:defRPr>
            </a:pPr>
            <a:r>
              <a:t>CODE TO CONNECT  •  S&amp;P GLOBAL &amp; CRISIL CAMPUS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965960"/>
          </a:xfrm>
          <a:prstGeom prst="rect">
            <a:avLst/>
          </a:prstGeom>
          <a:solidFill>
            <a:srgbClr val="16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One Streamlit command launches Risk Engine feed, Index Rebalancer, and Stress Tester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1965960"/>
          </a:xfrm>
          <a:prstGeom prst="rect">
            <a:avLst/>
          </a:prstGeom>
          <a:solidFill>
            <a:srgbClr val="24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95728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Capture the actual backtest comparison, before/after stress valuation, final test count, and dashboard screenshots.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73152" cy="1965960"/>
          </a:xfrm>
          <a:prstGeom prst="rect">
            <a:avLst/>
          </a:prstGeom>
          <a:solidFill>
            <a:srgbClr val="C6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3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01752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A3441"/>
                </a:solidFill>
                <a:latin typeface="Aptos"/>
              </a:defRPr>
            </a:pPr>
            <a:r>
              <a:t>Daily close data; no transaction costs; synthetic portfolio; simplified shock sensitivities; learned impact remains experimental.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Run the full test suite in a fresh environment.</a:t>
            </a:r>
          </a:p>
          <a:p>
            <a:pPr>
              <a:spcAft>
                <a:spcPts val="17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Polish README, architecture diagram, source/data notes, and Quickstart.</a:t>
            </a:r>
          </a:p>
          <a:p>
            <a:pPr>
              <a:spcAft>
                <a:spcPts val="17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Record the walkthrough; test repository, deck, and video links in an incognito/signed-out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