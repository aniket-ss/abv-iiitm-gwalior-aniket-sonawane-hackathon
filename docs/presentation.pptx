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09560" y="0"/>
            <a:ext cx="4279392" cy="6858000"/>
          </a:xfrm>
          <a:prstGeom prst="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658368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200" b="1">
                <a:solidFill>
                  <a:srgbClr val="5DE0E6"/>
                </a:solidFill>
                <a:latin typeface="Aptos"/>
              </a:defRPr>
            </a:pPr>
            <a:r>
              <a:t>S&amp;P GLOBAL &amp; CRISIL CAMPUS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6675120" cy="1234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3600" b="1">
                <a:solidFill>
                  <a:srgbClr val="F2F6FC"/>
                </a:solidFill>
                <a:latin typeface="Aptos"/>
              </a:defRPr>
            </a:pPr>
            <a:r>
              <a:t>Code to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743200"/>
            <a:ext cx="6400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2300" b="1">
                <a:solidFill>
                  <a:srgbClr val="63B3ED"/>
                </a:solidFill>
                <a:latin typeface="Aptos"/>
              </a:defRPr>
            </a:pPr>
            <a:r>
              <a:t>Financial Risk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657600"/>
            <a:ext cx="63093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900" b="0">
                <a:solidFill>
                  <a:srgbClr val="A5B1C2"/>
                </a:solidFill>
                <a:latin typeface="Aptos"/>
              </a:defRPr>
            </a:pPr>
            <a:r>
              <a:t>Turning unstructured news and social text into structured risk signals and portfolio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5120640"/>
            <a:ext cx="6400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F2F6FC"/>
                </a:solidFill>
                <a:latin typeface="Aptos"/>
              </a:defRPr>
            </a:pPr>
            <a:r>
              <a:t>Aniket Sonawane  •  ABV-IIITM Gwalior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868680"/>
            <a:ext cx="3154680" cy="841248"/>
          </a:xfrm>
          <a:prstGeom prst="roundRect">
            <a:avLst/>
          </a:prstGeom>
          <a:solidFill>
            <a:srgbClr val="0D1117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7072" y="978407"/>
            <a:ext cx="2743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63B3ED"/>
                </a:solidFill>
                <a:latin typeface="Aptos"/>
              </a:defRPr>
            </a:pPr>
            <a:r>
              <a:t>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7072" y="1261872"/>
            <a:ext cx="2743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F2F6FC"/>
                </a:solidFill>
                <a:latin typeface="Aptos"/>
              </a:defRPr>
            </a:pPr>
            <a:r>
              <a:t>News + social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66760" y="2148840"/>
            <a:ext cx="3154680" cy="841248"/>
          </a:xfrm>
          <a:prstGeom prst="roundRect">
            <a:avLst/>
          </a:prstGeom>
          <a:solidFill>
            <a:srgbClr val="0D1117"/>
          </a:solidFill>
          <a:ln>
            <a:solidFill>
              <a:srgbClr val="5D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7072" y="2258568"/>
            <a:ext cx="2743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5DE0E6"/>
                </a:solidFill>
                <a:latin typeface="Aptos"/>
              </a:defRPr>
            </a:pPr>
            <a:r>
              <a:t>ANALYZE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2542032"/>
            <a:ext cx="2743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F2F6FC"/>
                </a:solidFill>
                <a:latin typeface="Aptos"/>
              </a:defRPr>
            </a:pPr>
            <a:r>
              <a:t>Sentiment • event • impact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3429000"/>
            <a:ext cx="3154680" cy="841248"/>
          </a:xfrm>
          <a:prstGeom prst="roundRect">
            <a:avLst/>
          </a:prstGeom>
          <a:solidFill>
            <a:srgbClr val="0D1117"/>
          </a:solidFill>
          <a:ln>
            <a:solidFill>
              <a:srgbClr val="FFB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2" y="3538728"/>
            <a:ext cx="2743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FFBE5C"/>
                </a:solidFill>
                <a:latin typeface="Aptos"/>
              </a:defRPr>
            </a:pPr>
            <a:r>
              <a:t>PERSIST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7072" y="3822191"/>
            <a:ext cx="2743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F2F6FC"/>
                </a:solidFill>
                <a:latin typeface="Aptos"/>
              </a:defRPr>
            </a:pPr>
            <a:r>
              <a:t>SQLite + 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4709160"/>
            <a:ext cx="3154680" cy="841248"/>
          </a:xfrm>
          <a:prstGeom prst="roundRect">
            <a:avLst/>
          </a:prstGeom>
          <a:solidFill>
            <a:srgbClr val="0D1117"/>
          </a:solidFill>
          <a:ln>
            <a:solidFill>
              <a:srgbClr val="6F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4818888"/>
            <a:ext cx="2743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1">
                <a:solidFill>
                  <a:srgbClr val="6FDCAA"/>
                </a:solidFill>
                <a:latin typeface="Aptos"/>
              </a:defRPr>
            </a:pPr>
            <a:r>
              <a:t>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5102352"/>
            <a:ext cx="274320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F2F6FC"/>
                </a:solidFill>
                <a:latin typeface="Aptos"/>
              </a:defRPr>
            </a:pPr>
            <a:r>
              <a:t>Rebalance + stress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98932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200" b="0">
                <a:solidFill>
                  <a:srgbClr val="A5B1C2"/>
                </a:solidFill>
                <a:latin typeface="Aptos"/>
              </a:defRPr>
            </a:pPr>
            <a:r>
              <a:t>Python • FastAPI •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000" b="1">
                <a:solidFill>
                  <a:srgbClr val="5DE0E6"/>
                </a:solidFill>
                <a:latin typeface="Aptos"/>
              </a:defRPr>
            </a:pPr>
            <a:r>
              <a:t>01 / PROBLEM &amp;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2700" b="1">
                <a:solidFill>
                  <a:srgbClr val="F2F6FC"/>
                </a:solidFill>
                <a:latin typeface="Aptos"/>
              </a:defRPr>
            </a:pPr>
            <a:r>
              <a:t>One risk signal contract, two financial applications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07592"/>
            <a:ext cx="960120" cy="50292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A5B1C2"/>
                </a:solidFill>
                <a:latin typeface="Aptos"/>
              </a:defRPr>
            </a:pPr>
            <a:r>
              <a:t>2/7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20440" cy="333756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64008" cy="3337560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810512"/>
            <a:ext cx="315468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240280"/>
            <a:ext cx="3136392" cy="26243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News and social posts are unstructured, fast-moving, and hard for downstream systems to use consistently.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Important event details can be lost between text, risk interpretation and portfolio 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520440" cy="333756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45920"/>
            <a:ext cx="64008" cy="3337560"/>
          </a:xfrm>
          <a:prstGeom prst="rect">
            <a:avLst/>
          </a:prstGeom>
          <a:solidFill>
            <a:srgbClr val="5DE0E6"/>
          </a:solidFill>
          <a:ln>
            <a:solidFill>
              <a:srgbClr val="5D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810512"/>
            <a:ext cx="315468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The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136392" cy="26243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Normalize timestamped documents; link entities conservatively; score sentiment; classify event type; estimate impact and confidence.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Store each result as a validated, machine-readable signal.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520440" cy="333756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645920"/>
            <a:ext cx="64008" cy="3337560"/>
          </a:xfrm>
          <a:prstGeom prst="rect">
            <a:avLst/>
          </a:prstGeom>
          <a:solidFill>
            <a:srgbClr val="6FDCAA"/>
          </a:solidFill>
          <a:ln>
            <a:solidFill>
              <a:srgbClr val="6F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1810512"/>
            <a:ext cx="315468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The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240280"/>
            <a:ext cx="3136392" cy="26243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Module A uses company-level sentiment for a constrained 16-stock historical rebalancing simulation.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Module B uses actual stored risk events to stress a synthetic loans/bonds/derivatives portfolio.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78992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500" b="1">
                <a:solidFill>
                  <a:srgbClr val="F2F6FC"/>
                </a:solidFill>
                <a:latin typeface="Aptos"/>
              </a:defRPr>
            </a:pPr>
            <a:r>
              <a:t>Shared fields: ticker / scope • sentiment [-1, +1] • event type • impact [1, 10] • confidence • source • timestamp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000" b="1">
                <a:solidFill>
                  <a:srgbClr val="5DE0E6"/>
                </a:solidFill>
                <a:latin typeface="Aptos"/>
              </a:defRPr>
            </a:pPr>
            <a:r>
              <a:t>02 /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2700" b="1">
                <a:solidFill>
                  <a:srgbClr val="F2F6FC"/>
                </a:solidFill>
                <a:latin typeface="Aptos"/>
              </a:defRPr>
            </a:pPr>
            <a:r>
              <a:t>Architecture: from raw text to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07592"/>
            <a:ext cx="960120" cy="50292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A5B1C2"/>
                </a:solidFill>
                <a:latin typeface="Aptos"/>
              </a:defRPr>
            </a:pPr>
            <a:r>
              <a:t>3/7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828800" cy="822960"/>
          </a:xfrm>
          <a:prstGeom prst="roundRect">
            <a:avLst/>
          </a:prstGeom>
          <a:solidFill>
            <a:srgbClr val="181F2A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8528"/>
            <a:ext cx="16459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63B3ED"/>
                </a:solidFill>
                <a:latin typeface="Aptos"/>
              </a:defRPr>
            </a:pPr>
            <a:r>
              <a:t>DATA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221992"/>
            <a:ext cx="1682496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Tweets • GDELT GKG</a:t>
            </a:r>
          </a:p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News CSV • optional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1828800" cy="822960"/>
          </a:xfrm>
          <a:prstGeom prst="roundRect">
            <a:avLst/>
          </a:prstGeom>
          <a:solidFill>
            <a:srgbClr val="181F2A"/>
          </a:solidFill>
          <a:ln>
            <a:solidFill>
              <a:srgbClr val="5D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938528"/>
            <a:ext cx="16459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5DE0E6"/>
                </a:solidFill>
                <a:latin typeface="Aptos"/>
              </a:defRPr>
            </a:pPr>
            <a: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6352" y="2221992"/>
            <a:ext cx="1682496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Normalize + deduplicate</a:t>
            </a:r>
          </a:p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UTC timestamps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828800"/>
            <a:ext cx="1828800" cy="822960"/>
          </a:xfrm>
          <a:prstGeom prst="roundRect">
            <a:avLst/>
          </a:prstGeom>
          <a:solidFill>
            <a:srgbClr val="181F2A"/>
          </a:solidFill>
          <a:ln>
            <a:solidFill>
              <a:srgbClr val="FFB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0" y="1938528"/>
            <a:ext cx="16459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FFBE5C"/>
                </a:solidFill>
                <a:latin typeface="Aptos"/>
              </a:defRPr>
            </a:pPr>
            <a:r>
              <a:t>NLP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912" y="2221992"/>
            <a:ext cx="1682496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Entity • sentiment</a:t>
            </a:r>
          </a:p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event • impact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828800"/>
            <a:ext cx="1828800" cy="822960"/>
          </a:xfrm>
          <a:prstGeom prst="roundRect">
            <a:avLst/>
          </a:prstGeom>
          <a:solidFill>
            <a:srgbClr val="181F2A"/>
          </a:solidFill>
          <a:ln>
            <a:solidFill>
              <a:srgbClr val="6F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59" y="1938528"/>
            <a:ext cx="16459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6FDCAA"/>
                </a:solidFill>
                <a:latin typeface="Aptos"/>
              </a:defRPr>
            </a:pPr>
            <a:r>
              <a:t>SIGNAL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2221992"/>
            <a:ext cx="1682496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SQLite history</a:t>
            </a:r>
          </a:p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FastAPI read endpoints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1828800"/>
            <a:ext cx="2286000" cy="822960"/>
          </a:xfrm>
          <a:prstGeom prst="roundRect">
            <a:avLst/>
          </a:prstGeom>
          <a:solidFill>
            <a:srgbClr val="181F2A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19" y="1938528"/>
            <a:ext cx="21031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100" b="1">
                <a:solidFill>
                  <a:srgbClr val="63B3ED"/>
                </a:solidFill>
                <a:latin typeface="Aptos"/>
              </a:defRPr>
            </a:pPr>
            <a:r>
              <a:t>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00032" y="2221992"/>
            <a:ext cx="2139696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Full-db analytics</a:t>
            </a:r>
          </a:p>
          <a:p>
            <a:pPr algn="ctr">
              <a:spcAft>
                <a:spcPts val="600"/>
              </a:spcAft>
              <a:defRPr sz="1000" b="0">
                <a:solidFill>
                  <a:srgbClr val="F2F6FC"/>
                </a:solidFill>
                <a:latin typeface="Aptos"/>
              </a:defRPr>
            </a:pPr>
            <a:r>
              <a:t>Recent feed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7440" y="2240280"/>
            <a:ext cx="365760" cy="0"/>
          </a:xfrm>
          <a:prstGeom prst="line">
            <a:avLst/>
          </a:prstGeom>
          <a:ln w="25400">
            <a:solidFill>
              <a:srgbClr val="A5B1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72000" y="2240280"/>
            <a:ext cx="365760" cy="0"/>
          </a:xfrm>
          <a:prstGeom prst="line">
            <a:avLst/>
          </a:prstGeom>
          <a:ln w="25400">
            <a:solidFill>
              <a:srgbClr val="A5B1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66560" y="2240280"/>
            <a:ext cx="365760" cy="0"/>
          </a:xfrm>
          <a:prstGeom prst="line">
            <a:avLst/>
          </a:prstGeom>
          <a:ln w="25400">
            <a:solidFill>
              <a:srgbClr val="A5B1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961120" y="2240280"/>
            <a:ext cx="365760" cy="0"/>
          </a:xfrm>
          <a:prstGeom prst="line">
            <a:avLst/>
          </a:prstGeom>
          <a:ln w="25400">
            <a:solidFill>
              <a:srgbClr val="A5B1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4400" y="3657600"/>
            <a:ext cx="4754880" cy="155448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3657600"/>
            <a:ext cx="64008" cy="1554480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3822191"/>
            <a:ext cx="438912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Module A • Tactical index rebalancer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4251960"/>
            <a:ext cx="4370832" cy="84124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A5B1C2"/>
                </a:solidFill>
                <a:latin typeface="Aptos"/>
              </a:defRPr>
            </a:pPr>
            <a:r>
              <a:t>Company-scope signals + daily prices → lagged sentiment aggregation → capped weights and turnover → equal-weight / SPY comparison.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92240" y="3657600"/>
            <a:ext cx="4754880" cy="155448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92240" y="3657600"/>
            <a:ext cx="64008" cy="1554480"/>
          </a:xfrm>
          <a:prstGeom prst="rect">
            <a:avLst/>
          </a:prstGeom>
          <a:solidFill>
            <a:srgbClr val="FFBE5C"/>
          </a:solidFill>
          <a:ln>
            <a:solidFill>
              <a:srgbClr val="FFB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93407" y="3822191"/>
            <a:ext cx="438912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Module B • Strategic stress tester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3407" y="4251960"/>
            <a:ext cx="4370832" cy="84124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300" b="0">
                <a:solidFill>
                  <a:srgbClr val="A5B1C2"/>
                </a:solidFill>
                <a:latin typeface="Aptos"/>
              </a:defRPr>
            </a:pPr>
            <a:r>
              <a:t>Selected qualifying signal from the full database + configured event scenario → synthetic portfolio repricing → total and asset-level P&amp;L.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91840" y="2651760"/>
            <a:ext cx="0" cy="594360"/>
          </a:xfrm>
          <a:prstGeom prst="line">
            <a:avLst/>
          </a:prstGeom>
          <a:ln w="19050">
            <a:solidFill>
              <a:srgbClr val="A5B1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869680" y="2651760"/>
            <a:ext cx="0" cy="594360"/>
          </a:xfrm>
          <a:prstGeom prst="line">
            <a:avLst/>
          </a:prstGeom>
          <a:ln w="19050">
            <a:solidFill>
              <a:srgbClr val="A5B1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2960" y="5623560"/>
            <a:ext cx="105156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300" b="1">
                <a:solidFill>
                  <a:srgbClr val="5DE0E6"/>
                </a:solidFill>
                <a:latin typeface="Aptos"/>
              </a:defRPr>
            </a:pPr>
            <a:r>
              <a:t>Dashboard samples only the visible recent table; aggregate analytics and event filtering use the stored signal database.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000" b="1">
                <a:solidFill>
                  <a:srgbClr val="5DE0E6"/>
                </a:solidFill>
                <a:latin typeface="Aptos"/>
              </a:defRPr>
            </a:pPr>
            <a:r>
              <a:t>03 / IMPLEMENTATION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2700" b="1">
                <a:solidFill>
                  <a:srgbClr val="F2F6FC"/>
                </a:solidFill>
                <a:latin typeface="Aptos"/>
              </a:defRPr>
            </a:pPr>
            <a:r>
              <a:t>Risk Engine and data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07592"/>
            <a:ext cx="960120" cy="50292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A5B1C2"/>
                </a:solidFill>
                <a:latin typeface="Aptos"/>
              </a:defRPr>
            </a:pPr>
            <a:r>
              <a:t>4/7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474720" cy="338328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64008" cy="3383280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856232"/>
            <a:ext cx="3108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86000"/>
            <a:ext cx="3090672" cy="2670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Historical stock tweets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Processed GDELT bulk GKG metadata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Supplementary dated news CSV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Optional NewsAPI adapter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Each source maps into a common Document schema.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474720" cy="338328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64008" cy="3383280"/>
          </a:xfrm>
          <a:prstGeom prst="rect">
            <a:avLst/>
          </a:prstGeom>
          <a:solidFill>
            <a:srgbClr val="5DE0E6"/>
          </a:solidFill>
          <a:ln>
            <a:solidFill>
              <a:srgbClr val="5D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856232"/>
            <a:ext cx="3108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Signal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86000"/>
            <a:ext cx="3090672" cy="2670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Preprocessing + conservative entity linking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FinBERT sentiment when available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Zero-shot event classifier when available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Explainable heuristic impact score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Deterministic fallback for local smoke tests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691640"/>
            <a:ext cx="3474720" cy="338328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1691640"/>
            <a:ext cx="64008" cy="3383280"/>
          </a:xfrm>
          <a:prstGeom prst="rect">
            <a:avLst/>
          </a:prstGeom>
          <a:solidFill>
            <a:srgbClr val="FFBE5C"/>
          </a:solidFill>
          <a:ln>
            <a:solidFill>
              <a:srgbClr val="FFB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1856232"/>
            <a:ext cx="310896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Access and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2286000"/>
            <a:ext cx="3090672" cy="2670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SQLite signal store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FastAPI query + aggregate endpoints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Scope separates company from market signals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Full-database analytics; recent rows limited for readability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Confidence is not a calibrated probability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486400"/>
            <a:ext cx="104241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400" b="1">
                <a:solidFill>
                  <a:srgbClr val="F2F6FC"/>
                </a:solidFill>
                <a:latin typeface="Aptos"/>
              </a:defRPr>
            </a:pPr>
            <a:r>
              <a:t>Current screenshot: 109,262 stored signals. Evaluation datasets without reliable timestamps remain separate from live ingestion.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000" b="1">
                <a:solidFill>
                  <a:srgbClr val="5DE0E6"/>
                </a:solidFill>
                <a:latin typeface="Aptos"/>
              </a:defRPr>
            </a:pPr>
            <a:r>
              <a:t>04 / MODULE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2700" b="1">
                <a:solidFill>
                  <a:srgbClr val="F2F6FC"/>
                </a:solidFill>
                <a:latin typeface="Aptos"/>
              </a:defRPr>
            </a:pPr>
            <a:r>
              <a:t>Tactical index rebalancing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07592"/>
            <a:ext cx="960120" cy="50292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A5B1C2"/>
                </a:solidFill>
                <a:latin typeface="Aptos"/>
              </a:defRPr>
            </a:pPr>
            <a:r>
              <a:t>5/7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429000" cy="352044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64008" cy="3520440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856232"/>
            <a:ext cx="306324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Inputs &amp;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86000"/>
            <a:ext cx="3044952" cy="28072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16 configured stocks; SPY benchmark-only.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7-day signal lookback • 48-hour half-life • 0.50 minimum confidence • 15% max stock weight • 10% one-way turnover cap.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429000" cy="352044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64008" cy="3520440"/>
          </a:xfrm>
          <a:prstGeom prst="rect">
            <a:avLst/>
          </a:prstGeom>
          <a:solidFill>
            <a:srgbClr val="5DE0E6"/>
          </a:solidFill>
          <a:ln>
            <a:solidFill>
              <a:srgbClr val="5D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56232"/>
            <a:ext cx="306324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Observed dashboard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86000"/>
            <a:ext cx="3044952" cy="28072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Sentiment-tilted cumulative return: 108.68%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Static equal-weight: 109.60%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SPY buy-and-hold: 93.98%</a:t>
            </a: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500" b="0">
                <a:solidFill>
                  <a:srgbClr val="A5B1C2"/>
                </a:solidFill>
                <a:latin typeface="Aptos"/>
              </a:defRPr>
            </a:pPr>
            <a:r>
              <a:t>1,262 price dates shown.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3429000" cy="352044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91640"/>
            <a:ext cx="64008" cy="3520440"/>
          </a:xfrm>
          <a:prstGeom prst="rect">
            <a:avLst/>
          </a:prstGeom>
          <a:solidFill>
            <a:srgbClr val="FFBE5C"/>
          </a:solidFill>
          <a:ln>
            <a:solidFill>
              <a:srgbClr val="FFB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856232"/>
            <a:ext cx="306324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286000"/>
            <a:ext cx="3044952" cy="28072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The sentiment strategy was slightly below static equal weight in the captured run.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Signals are lagged relative to returns. Transaction costs are excluded; this is a backtest, not live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669280"/>
            <a:ext cx="106070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A5B1C2"/>
                </a:solidFill>
                <a:latin typeface="Aptos"/>
              </a:defRPr>
            </a:pPr>
            <a:r>
              <a:t>Refresh all performance figures after the final clean run before submission.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000" b="1">
                <a:solidFill>
                  <a:srgbClr val="5DE0E6"/>
                </a:solidFill>
                <a:latin typeface="Aptos"/>
              </a:defRPr>
            </a:pPr>
            <a:r>
              <a:t>05 / MODULE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2700" b="1">
                <a:solidFill>
                  <a:srgbClr val="F2F6FC"/>
                </a:solidFill>
                <a:latin typeface="Aptos"/>
              </a:defRPr>
            </a:pPr>
            <a:r>
              <a:t>Event-driven wholesale portfolio stress 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07592"/>
            <a:ext cx="960120" cy="50292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A5B1C2"/>
                </a:solidFill>
                <a:latin typeface="Aptos"/>
              </a:defRPr>
            </a:pPr>
            <a:r>
              <a:t>6/7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429000" cy="352044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64008" cy="3520440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856232"/>
            <a:ext cx="306324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Actual risk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86000"/>
            <a:ext cx="3044952" cy="28072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Choose a stored NLP signal filtered by impact threshold, time window, scope and event category.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Scenario labels are normalized to configuration keys before the shock is applied.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429000" cy="352044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64008" cy="3520440"/>
          </a:xfrm>
          <a:prstGeom prst="rect">
            <a:avLst/>
          </a:prstGeom>
          <a:solidFill>
            <a:srgbClr val="5DE0E6"/>
          </a:solidFill>
          <a:ln>
            <a:solidFill>
              <a:srgbClr val="5D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56232"/>
            <a:ext cx="306324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Synthetic portfolio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86000"/>
            <a:ext cx="3044952" cy="28072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7 illustrative assets across loans, bonds and derivatives.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Initial value shown in the dashboard: $86.25M.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Shock sizes are deterministic assumptions in config/stress_scenarios.yaml.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3429000" cy="352044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91640"/>
            <a:ext cx="64008" cy="3520440"/>
          </a:xfrm>
          <a:prstGeom prst="rect">
            <a:avLst/>
          </a:prstGeom>
          <a:solidFill>
            <a:srgbClr val="FF7575"/>
          </a:solidFill>
          <a:ln>
            <a:solidFill>
              <a:srgbClr val="FF75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856232"/>
            <a:ext cx="306324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Observed 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286000"/>
            <a:ext cx="3044952" cy="28072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Before shock: $86.25M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After shock: about $76.09M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Illustrative P&amp;L: about −$10.16M.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Exact result depends on selected signal and resolved scenario.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669280"/>
            <a:ext cx="106070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300" b="0">
                <a:solidFill>
                  <a:srgbClr val="A5B1C2"/>
                </a:solidFill>
                <a:latin typeface="Aptos"/>
              </a:defRPr>
            </a:pPr>
            <a:r>
              <a:t>Simplified sensitivities only; this is not a production banking risk model.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9875520" cy="228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000" b="1">
                <a:solidFill>
                  <a:srgbClr val="5DE0E6"/>
                </a:solidFill>
                <a:latin typeface="Aptos"/>
              </a:defRPr>
            </a:pPr>
            <a:r>
              <a:t>06 / IMPACT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97280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2700" b="1">
                <a:solidFill>
                  <a:srgbClr val="F2F6FC"/>
                </a:solidFill>
                <a:latin typeface="Aptos"/>
              </a:defRPr>
            </a:pPr>
            <a:r>
              <a:t>Demonstration value, caveats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307592"/>
            <a:ext cx="960120" cy="50292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457200" cy="182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spcAft>
                <a:spcPts val="600"/>
              </a:spcAft>
              <a:defRPr sz="1000" b="0">
                <a:solidFill>
                  <a:srgbClr val="A5B1C2"/>
                </a:solidFill>
                <a:latin typeface="Aptos"/>
              </a:defRPr>
            </a:pPr>
            <a:r>
              <a:t>7/7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429000" cy="356616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91640"/>
            <a:ext cx="64008" cy="3566160"/>
          </a:xfrm>
          <a:prstGeom prst="rect">
            <a:avLst/>
          </a:prstGeom>
          <a:solidFill>
            <a:srgbClr val="6FDCAA"/>
          </a:solidFill>
          <a:ln>
            <a:solidFill>
              <a:srgbClr val="6FDC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856232"/>
            <a:ext cx="306324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Domain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286000"/>
            <a:ext cx="3044952" cy="2852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Converts text into reusable structured risk signals.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Makes company sentiment available to a portfolio allocation simulation.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Connects high-impact events to transparent portfolio stress scenarios.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Provides inspectable charts and downloadable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429000" cy="356616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91640"/>
            <a:ext cx="64008" cy="3566160"/>
          </a:xfrm>
          <a:prstGeom prst="rect">
            <a:avLst/>
          </a:prstGeom>
          <a:solidFill>
            <a:srgbClr val="FFBE5C"/>
          </a:solidFill>
          <a:ln>
            <a:solidFill>
              <a:srgbClr val="FFB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56232"/>
            <a:ext cx="306324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286000"/>
            <a:ext cx="3044952" cy="2852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Historical daily prices, not intraday execution.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No transaction costs.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Synthetic portfolio and simplified duration / derivative sensitivities.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Source licensing and model availability must be verified.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Impact calibration is exploratory, not a return forecast.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3429000" cy="3566160"/>
          </a:xfrm>
          <a:prstGeom prst="roundRect">
            <a:avLst/>
          </a:prstGeom>
          <a:solidFill>
            <a:srgbClr val="181F2A"/>
          </a:solidFill>
          <a:ln>
            <a:solidFill>
              <a:srgbClr val="181F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691640"/>
            <a:ext cx="64008" cy="3566160"/>
          </a:xfrm>
          <a:prstGeom prst="rect">
            <a:avLst/>
          </a:prstGeom>
          <a:solidFill>
            <a:srgbClr val="63B3ED"/>
          </a:solidFill>
          <a:ln>
            <a:solidFill>
              <a:srgbClr val="63B3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856232"/>
            <a:ext cx="3063240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F2F6FC"/>
                </a:solidFill>
                <a:latin typeface="Aptos"/>
              </a:defRPr>
            </a:pPr>
            <a:r>
              <a:t>Final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2286000"/>
            <a:ext cx="3044952" cy="2852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Run the full pytest suite in a clean environment.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Refresh result figures from final outputs.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Include README, architecture and 5–7 slide deck in the public repo.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Record a demo of up to 10 minutes.</a:t>
            </a:r>
          </a:p>
          <a:p>
            <a:pPr algn="l">
              <a:spcAft>
                <a:spcPts val="600"/>
              </a:spcAft>
              <a:defRPr sz="1400" b="0">
                <a:solidFill>
                  <a:srgbClr val="A5B1C2"/>
                </a:solidFill>
                <a:latin typeface="Aptos"/>
              </a:defRPr>
            </a:pPr>
            <a:r>
              <a:t>• Test repository and video links in incognito.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715000"/>
            <a:ext cx="1042416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600"/>
              </a:spcAft>
              <a:defRPr sz="1200" b="0">
                <a:solidFill>
                  <a:srgbClr val="A5B1C2"/>
                </a:solidFill>
                <a:latin typeface="Aptos"/>
              </a:defRPr>
            </a:pPr>
            <a:r>
              <a:t>Candidate: Aniket Sonawane  •  ABV-IIITM Gwalior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